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orwester" charset="1" panose="00000506000000000000"/>
      <p:regular r:id="rId19"/>
    </p:embeddedFont>
    <p:embeddedFont>
      <p:font typeface="Open Sans" charset="1" panose="020B0606030504020204"/>
      <p:regular r:id="rId20"/>
    </p:embeddedFont>
    <p:embeddedFont>
      <p:font typeface="Helvetica World Bold" charset="1" panose="020B0800040000020004"/>
      <p:regular r:id="rId21"/>
    </p:embeddedFont>
    <p:embeddedFont>
      <p:font typeface="Helvetica World" charset="1" panose="020B0500040000020004"/>
      <p:regular r:id="rId22"/>
    </p:embeddedFont>
    <p:embeddedFont>
      <p:font typeface="Open Sans Bold" charset="1" panose="020B0806030504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2.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7.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9053909"/>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996033" y="9053909"/>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1028700"/>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835963" y="3504762"/>
            <a:ext cx="12616074" cy="2344474"/>
          </a:xfrm>
          <a:prstGeom prst="rect">
            <a:avLst/>
          </a:prstGeom>
        </p:spPr>
        <p:txBody>
          <a:bodyPr anchor="t" rtlCol="false" tIns="0" lIns="0" bIns="0" rIns="0">
            <a:spAutoFit/>
          </a:bodyPr>
          <a:lstStyle/>
          <a:p>
            <a:pPr algn="ctr">
              <a:lnSpc>
                <a:spcPts val="18860"/>
              </a:lnSpc>
            </a:pPr>
            <a:r>
              <a:rPr lang="en-US" sz="14288" spc="-700">
                <a:solidFill>
                  <a:srgbClr val="38B6FF"/>
                </a:solidFill>
                <a:latin typeface="Norwester"/>
                <a:ea typeface="Norwester"/>
                <a:cs typeface="Norwester"/>
                <a:sym typeface="Norwester"/>
              </a:rPr>
              <a:t>DIRECTA V2</a:t>
            </a:r>
          </a:p>
        </p:txBody>
      </p:sp>
      <p:sp>
        <p:nvSpPr>
          <p:cNvPr name="Freeform 9" id="9"/>
          <p:cNvSpPr/>
          <p:nvPr/>
        </p:nvSpPr>
        <p:spPr>
          <a:xfrm flipH="true" flipV="false" rot="0">
            <a:off x="15921917" y="104801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a:t>
            </a:r>
          </a:p>
        </p:txBody>
      </p:sp>
      <p:sp>
        <p:nvSpPr>
          <p:cNvPr name="TextBox 11" id="11"/>
          <p:cNvSpPr txBox="true"/>
          <p:nvPr/>
        </p:nvSpPr>
        <p:spPr>
          <a:xfrm rot="0">
            <a:off x="1501060" y="7361084"/>
            <a:ext cx="16140041" cy="2048029"/>
          </a:xfrm>
          <a:prstGeom prst="rect">
            <a:avLst/>
          </a:prstGeom>
        </p:spPr>
        <p:txBody>
          <a:bodyPr anchor="t" rtlCol="false" tIns="0" lIns="0" bIns="0" rIns="0">
            <a:spAutoFit/>
          </a:bodyPr>
          <a:lstStyle/>
          <a:p>
            <a:pPr algn="l">
              <a:lnSpc>
                <a:spcPts val="3286"/>
              </a:lnSpc>
            </a:pPr>
            <a:r>
              <a:rPr lang="en-US" sz="2489" spc="-122">
                <a:solidFill>
                  <a:srgbClr val="FFFFFF"/>
                </a:solidFill>
                <a:latin typeface="Norwester"/>
                <a:ea typeface="Norwester"/>
                <a:cs typeface="Norwester"/>
                <a:sym typeface="Norwester"/>
              </a:rPr>
              <a:t>Rodrigo Bello: Scrum Master</a:t>
            </a:r>
          </a:p>
          <a:p>
            <a:pPr algn="l">
              <a:lnSpc>
                <a:spcPts val="3286"/>
              </a:lnSpc>
            </a:pPr>
            <a:r>
              <a:rPr lang="en-US" sz="2489" spc="-122">
                <a:solidFill>
                  <a:srgbClr val="FFFFFF"/>
                </a:solidFill>
                <a:latin typeface="Norwester"/>
                <a:ea typeface="Norwester"/>
                <a:cs typeface="Norwester"/>
                <a:sym typeface="Norwester"/>
              </a:rPr>
              <a:t>Ignacio González: Product Owner</a:t>
            </a:r>
          </a:p>
          <a:p>
            <a:pPr algn="l">
              <a:lnSpc>
                <a:spcPts val="3286"/>
              </a:lnSpc>
            </a:pPr>
            <a:r>
              <a:rPr lang="en-US" sz="2489" spc="-122">
                <a:solidFill>
                  <a:srgbClr val="FFFFFF"/>
                </a:solidFill>
                <a:latin typeface="Norwester"/>
                <a:ea typeface="Norwester"/>
                <a:cs typeface="Norwester"/>
                <a:sym typeface="Norwester"/>
              </a:rPr>
              <a:t>Benjamin Gutierrez: Developer BackEnd</a:t>
            </a:r>
          </a:p>
          <a:p>
            <a:pPr algn="l">
              <a:lnSpc>
                <a:spcPts val="3286"/>
              </a:lnSpc>
            </a:pPr>
            <a:r>
              <a:rPr lang="en-US" sz="2489" spc="-122">
                <a:solidFill>
                  <a:srgbClr val="FFFFFF"/>
                </a:solidFill>
                <a:latin typeface="Norwester"/>
                <a:ea typeface="Norwester"/>
                <a:cs typeface="Norwester"/>
                <a:sym typeface="Norwester"/>
              </a:rPr>
              <a:t>JAVIERA VILLALOBOS: DEVELOPER FRONTEND</a:t>
            </a:r>
          </a:p>
          <a:p>
            <a:pPr algn="l">
              <a:lnSpc>
                <a:spcPts val="3286"/>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040973" y="2561885"/>
            <a:ext cx="5980010" cy="6696415"/>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3880" t="0" r="-33880" b="0"/>
              </a:stretch>
            </a:blipFill>
          </p:spPr>
        </p:sp>
      </p:grpSp>
      <p:sp>
        <p:nvSpPr>
          <p:cNvPr name="Freeform 5" id="5"/>
          <p:cNvSpPr/>
          <p:nvPr/>
        </p:nvSpPr>
        <p:spPr>
          <a:xfrm flipH="false" flipV="true" rot="0">
            <a:off x="14011825" y="55634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8317705" y="55634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317705" y="974828"/>
            <a:ext cx="6638493"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INDICE </a:t>
            </a:r>
          </a:p>
        </p:txBody>
      </p:sp>
      <p:sp>
        <p:nvSpPr>
          <p:cNvPr name="TextBox 8" id="8"/>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a:t>
            </a:r>
          </a:p>
        </p:txBody>
      </p:sp>
      <p:sp>
        <p:nvSpPr>
          <p:cNvPr name="TextBox 10" id="10"/>
          <p:cNvSpPr txBox="true"/>
          <p:nvPr/>
        </p:nvSpPr>
        <p:spPr>
          <a:xfrm rot="0">
            <a:off x="7912820" y="3011273"/>
            <a:ext cx="4871198" cy="7097110"/>
          </a:xfrm>
          <a:prstGeom prst="rect">
            <a:avLst/>
          </a:prstGeom>
        </p:spPr>
        <p:txBody>
          <a:bodyPr anchor="t" rtlCol="false" tIns="0" lIns="0" bIns="0" rIns="0">
            <a:spAutoFit/>
          </a:bodyPr>
          <a:lstStyle/>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CONT</a:t>
            </a:r>
            <a:r>
              <a:rPr lang="en-US" sz="3044" spc="-149">
                <a:solidFill>
                  <a:srgbClr val="FFFFFF"/>
                </a:solidFill>
                <a:latin typeface="Norwester"/>
                <a:ea typeface="Norwester"/>
                <a:cs typeface="Norwester"/>
                <a:sym typeface="Norwester"/>
              </a:rPr>
              <a:t>EXTO DEL PROBLEMA</a:t>
            </a:r>
          </a:p>
          <a:p>
            <a:pPr algn="ctr">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a:t>
            </a:r>
            <a:r>
              <a:rPr lang="en-US" sz="3044" spc="-149">
                <a:solidFill>
                  <a:srgbClr val="FFFFFF"/>
                </a:solidFill>
                <a:latin typeface="Norwester"/>
                <a:ea typeface="Norwester"/>
                <a:cs typeface="Norwester"/>
                <a:sym typeface="Norwester"/>
              </a:rPr>
              <a:t>VISION</a:t>
            </a:r>
          </a:p>
          <a:p>
            <a:pPr algn="l">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OBJETIVO GENERAL</a:t>
            </a:r>
          </a:p>
          <a:p>
            <a:pPr algn="l">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OBJETIVOS ESPECÍFICOS</a:t>
            </a:r>
          </a:p>
          <a:p>
            <a:pPr algn="l">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USUARIOS OBJETIVO</a:t>
            </a:r>
          </a:p>
          <a:p>
            <a:pPr algn="l">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ALCANCE DEL MVP</a:t>
            </a:r>
          </a:p>
          <a:p>
            <a:pPr algn="l">
              <a:lnSpc>
                <a:spcPts val="4019"/>
              </a:lnSpc>
              <a:spcBef>
                <a:spcPct val="0"/>
              </a:spcBef>
            </a:pPr>
          </a:p>
          <a:p>
            <a:pPr algn="l" marL="657372" indent="-328686" lvl="1">
              <a:lnSpc>
                <a:spcPts val="4019"/>
              </a:lnSpc>
              <a:spcBef>
                <a:spcPct val="0"/>
              </a:spcBef>
              <a:buAutoNum type="arabicPeriod" startAt="1"/>
            </a:pPr>
            <a:r>
              <a:rPr lang="en-US" sz="3044" spc="-149">
                <a:solidFill>
                  <a:srgbClr val="FFFFFF"/>
                </a:solidFill>
                <a:latin typeface="Norwester"/>
                <a:ea typeface="Norwester"/>
                <a:cs typeface="Norwester"/>
                <a:sym typeface="Norwester"/>
              </a:rPr>
              <a:t> METODOLOGÍA DE DESARROLLO</a:t>
            </a:r>
          </a:p>
        </p:txBody>
      </p:sp>
      <p:sp>
        <p:nvSpPr>
          <p:cNvPr name="TextBox 11" id="11"/>
          <p:cNvSpPr txBox="true"/>
          <p:nvPr/>
        </p:nvSpPr>
        <p:spPr>
          <a:xfrm rot="0">
            <a:off x="12784018" y="3020798"/>
            <a:ext cx="4942809" cy="3506592"/>
          </a:xfrm>
          <a:prstGeom prst="rect">
            <a:avLst/>
          </a:prstGeom>
        </p:spPr>
        <p:txBody>
          <a:bodyPr anchor="t" rtlCol="false" tIns="0" lIns="0" bIns="0" rIns="0">
            <a:spAutoFit/>
          </a:bodyPr>
          <a:lstStyle/>
          <a:p>
            <a:pPr algn="l" marL="652069" indent="-326034" lvl="1">
              <a:lnSpc>
                <a:spcPts val="3986"/>
              </a:lnSpc>
              <a:spcBef>
                <a:spcPct val="0"/>
              </a:spcBef>
              <a:buAutoNum type="arabicPeriod" startAt="1"/>
            </a:pPr>
            <a:r>
              <a:rPr lang="en-US" sz="3020" spc="-147">
                <a:solidFill>
                  <a:srgbClr val="FFFFFF"/>
                </a:solidFill>
                <a:latin typeface="Norwester"/>
                <a:ea typeface="Norwester"/>
                <a:cs typeface="Norwester"/>
                <a:sym typeface="Norwester"/>
              </a:rPr>
              <a:t> R</a:t>
            </a:r>
            <a:r>
              <a:rPr lang="en-US" sz="3020" spc="-147">
                <a:solidFill>
                  <a:srgbClr val="FFFFFF"/>
                </a:solidFill>
                <a:latin typeface="Norwester"/>
                <a:ea typeface="Norwester"/>
                <a:cs typeface="Norwester"/>
                <a:sym typeface="Norwester"/>
              </a:rPr>
              <a:t>ECURSOS NECESARIOS</a:t>
            </a:r>
          </a:p>
          <a:p>
            <a:pPr algn="l">
              <a:lnSpc>
                <a:spcPts val="3986"/>
              </a:lnSpc>
              <a:spcBef>
                <a:spcPct val="0"/>
              </a:spcBef>
            </a:pPr>
          </a:p>
          <a:p>
            <a:pPr algn="l" marL="652069" indent="-326034" lvl="1">
              <a:lnSpc>
                <a:spcPts val="3986"/>
              </a:lnSpc>
              <a:spcBef>
                <a:spcPct val="0"/>
              </a:spcBef>
              <a:buAutoNum type="arabicPeriod" startAt="1"/>
            </a:pPr>
            <a:r>
              <a:rPr lang="en-US" sz="3020" spc="-147">
                <a:solidFill>
                  <a:srgbClr val="FFFFFF"/>
                </a:solidFill>
                <a:latin typeface="Norwester"/>
                <a:ea typeface="Norwester"/>
                <a:cs typeface="Norwester"/>
                <a:sym typeface="Norwester"/>
              </a:rPr>
              <a:t> FACTIBILIDAD DEL PROYECTO</a:t>
            </a:r>
          </a:p>
          <a:p>
            <a:pPr algn="l">
              <a:lnSpc>
                <a:spcPts val="3986"/>
              </a:lnSpc>
              <a:spcBef>
                <a:spcPct val="0"/>
              </a:spcBef>
            </a:pPr>
          </a:p>
          <a:p>
            <a:pPr algn="l" marL="652069" indent="-326034" lvl="1">
              <a:lnSpc>
                <a:spcPts val="3986"/>
              </a:lnSpc>
              <a:spcBef>
                <a:spcPct val="0"/>
              </a:spcBef>
              <a:buAutoNum type="arabicPeriod" startAt="1"/>
            </a:pPr>
            <a:r>
              <a:rPr lang="en-US" sz="3020" spc="-147">
                <a:solidFill>
                  <a:srgbClr val="FFFFFF"/>
                </a:solidFill>
                <a:latin typeface="Norwester"/>
                <a:ea typeface="Norwester"/>
                <a:cs typeface="Norwester"/>
                <a:sym typeface="Norwester"/>
              </a:rPr>
              <a:t> DIFERENCIADOR DEL PROYECTO</a:t>
            </a:r>
          </a:p>
          <a:p>
            <a:pPr algn="l">
              <a:lnSpc>
                <a:spcPts val="3986"/>
              </a:lnSpc>
              <a:spcBef>
                <a:spcPct val="0"/>
              </a:spcBef>
            </a:pPr>
          </a:p>
          <a:p>
            <a:pPr algn="l">
              <a:lnSpc>
                <a:spcPts val="398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1736168" y="1872615"/>
            <a:ext cx="4243198" cy="4751533"/>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sp>
        <p:nvSpPr>
          <p:cNvPr name="Freeform 5" id="5"/>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98794" y="1479611"/>
            <a:ext cx="7838151" cy="3989070"/>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CONTEXTO DEL PROBLEMA</a:t>
            </a:r>
          </a:p>
        </p:txBody>
      </p:sp>
      <p:sp>
        <p:nvSpPr>
          <p:cNvPr name="TextBox 7" id="7"/>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8" id="8"/>
          <p:cNvSpPr txBox="true"/>
          <p:nvPr/>
        </p:nvSpPr>
        <p:spPr>
          <a:xfrm rot="0">
            <a:off x="1028700" y="5761183"/>
            <a:ext cx="6885225" cy="3855720"/>
          </a:xfrm>
          <a:prstGeom prst="rect">
            <a:avLst/>
          </a:prstGeom>
        </p:spPr>
        <p:txBody>
          <a:bodyPr anchor="t" rtlCol="false" tIns="0" lIns="0" bIns="0" rIns="0">
            <a:spAutoFit/>
          </a:bodyPr>
          <a:lstStyle/>
          <a:p>
            <a:pPr algn="l">
              <a:lnSpc>
                <a:spcPts val="2729"/>
              </a:lnSpc>
            </a:pPr>
            <a:r>
              <a:rPr lang="en-US" sz="2099" spc="-62" b="true">
                <a:solidFill>
                  <a:srgbClr val="FFFFFF"/>
                </a:solidFill>
                <a:latin typeface="Helvetica World Bold"/>
                <a:ea typeface="Helvetica World Bold"/>
                <a:cs typeface="Helvetica World Bold"/>
                <a:sym typeface="Helvetica World Bold"/>
              </a:rPr>
              <a:t>Sobrecarga de información: </a:t>
            </a:r>
            <a:r>
              <a:rPr lang="en-US" sz="2099" spc="-62">
                <a:solidFill>
                  <a:srgbClr val="FFFFFF"/>
                </a:solidFill>
                <a:latin typeface="Helvetica World"/>
                <a:ea typeface="Helvetica World"/>
                <a:cs typeface="Helvetica World"/>
                <a:sym typeface="Helvetica World"/>
              </a:rPr>
              <a:t>Los ejecutivos reciben cientos de páginas de informes financieros, operativos y regulatorios antes de cada reunión de directorio.</a:t>
            </a:r>
          </a:p>
          <a:p>
            <a:pPr algn="l">
              <a:lnSpc>
                <a:spcPts val="2729"/>
              </a:lnSpc>
            </a:pPr>
          </a:p>
          <a:p>
            <a:pPr algn="l">
              <a:lnSpc>
                <a:spcPts val="2729"/>
              </a:lnSpc>
            </a:pPr>
            <a:r>
              <a:rPr lang="en-US" sz="2099" spc="-62">
                <a:solidFill>
                  <a:srgbClr val="FFFFFF"/>
                </a:solidFill>
                <a:latin typeface="Helvetica World"/>
                <a:ea typeface="Helvetica World"/>
                <a:cs typeface="Helvetica World"/>
                <a:sym typeface="Helvetica World"/>
              </a:rPr>
              <a:t> </a:t>
            </a:r>
            <a:r>
              <a:rPr lang="en-US" sz="2099" spc="-62" b="true">
                <a:solidFill>
                  <a:srgbClr val="FFFFFF"/>
                </a:solidFill>
                <a:latin typeface="Helvetica World Bold"/>
                <a:ea typeface="Helvetica World Bold"/>
                <a:cs typeface="Helvetica World Bold"/>
                <a:sym typeface="Helvetica World Bold"/>
              </a:rPr>
              <a:t>Límite de tiempo:</a:t>
            </a:r>
            <a:r>
              <a:rPr lang="en-US" sz="2099" spc="-62">
                <a:solidFill>
                  <a:srgbClr val="FFFFFF"/>
                </a:solidFill>
                <a:latin typeface="Helvetica World"/>
                <a:ea typeface="Helvetica World"/>
                <a:cs typeface="Helvetica World"/>
                <a:sym typeface="Helvetica World"/>
              </a:rPr>
              <a:t> La revisión manual de volúmenes masivos de datos consume demasiado tiempo y dificulta identificar los aspectos estratégicos realmente importantes.</a:t>
            </a:r>
          </a:p>
          <a:p>
            <a:pPr algn="l">
              <a:lnSpc>
                <a:spcPts val="2729"/>
              </a:lnSpc>
            </a:pPr>
          </a:p>
          <a:p>
            <a:pPr algn="l">
              <a:lnSpc>
                <a:spcPts val="2729"/>
              </a:lnSpc>
            </a:pPr>
            <a:r>
              <a:rPr lang="en-US" sz="2099" spc="-62">
                <a:solidFill>
                  <a:srgbClr val="FFFFFF"/>
                </a:solidFill>
                <a:latin typeface="Helvetica World"/>
                <a:ea typeface="Helvetica World"/>
                <a:cs typeface="Helvetica World"/>
                <a:sym typeface="Helvetica World"/>
              </a:rPr>
              <a:t> </a:t>
            </a:r>
            <a:r>
              <a:rPr lang="en-US" sz="2099" spc="-62" b="true">
                <a:solidFill>
                  <a:srgbClr val="FFFFFF"/>
                </a:solidFill>
                <a:latin typeface="Helvetica World Bold"/>
                <a:ea typeface="Helvetica World Bold"/>
                <a:cs typeface="Helvetica World Bold"/>
                <a:sym typeface="Helvetica World Bold"/>
              </a:rPr>
              <a:t>Riesgo operativo:</a:t>
            </a:r>
            <a:r>
              <a:rPr lang="en-US" sz="2099" spc="-62">
                <a:solidFill>
                  <a:srgbClr val="FFFFFF"/>
                </a:solidFill>
                <a:latin typeface="Helvetica World"/>
                <a:ea typeface="Helvetica World"/>
                <a:cs typeface="Helvetica World"/>
                <a:sym typeface="Helvetica World"/>
              </a:rPr>
              <a:t> El procesamiento manual aumenta la probabilidad de pasar por alto datos críticos, riesgos no detectados o preguntas complejas de los directores.   </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8852452" y="1028700"/>
            <a:ext cx="4258605" cy="4768786"/>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49537" t="0" r="-49537" b="0"/>
              </a:stretch>
            </a:blipFill>
          </p:spPr>
        </p:sp>
      </p:grpSp>
      <p:sp>
        <p:nvSpPr>
          <p:cNvPr name="TextBox 5" id="5"/>
          <p:cNvSpPr txBox="true"/>
          <p:nvPr/>
        </p:nvSpPr>
        <p:spPr>
          <a:xfrm rot="0">
            <a:off x="1040973" y="3005988"/>
            <a:ext cx="5248357"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VISION</a:t>
            </a:r>
          </a:p>
        </p:txBody>
      </p:sp>
      <p:sp>
        <p:nvSpPr>
          <p:cNvPr name="TextBox 6" id="6"/>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7" id="7"/>
          <p:cNvSpPr txBox="true"/>
          <p:nvPr/>
        </p:nvSpPr>
        <p:spPr>
          <a:xfrm rot="0">
            <a:off x="1022898" y="7726045"/>
            <a:ext cx="3626130" cy="2046605"/>
          </a:xfrm>
          <a:prstGeom prst="rect">
            <a:avLst/>
          </a:prstGeom>
        </p:spPr>
        <p:txBody>
          <a:bodyPr anchor="t" rtlCol="false" tIns="0" lIns="0" bIns="0" rIns="0">
            <a:spAutoFit/>
          </a:bodyPr>
          <a:lstStyle/>
          <a:p>
            <a:pPr algn="just">
              <a:lnSpc>
                <a:spcPts val="2079"/>
              </a:lnSpc>
            </a:pPr>
            <a:r>
              <a:rPr lang="en-US" sz="1599" spc="-47">
                <a:solidFill>
                  <a:srgbClr val="FFFFFF"/>
                </a:solidFill>
                <a:latin typeface="Helvetica World"/>
                <a:ea typeface="Helvetica World"/>
                <a:cs typeface="Helvetica World"/>
                <a:sym typeface="Helvetica World"/>
              </a:rPr>
              <a:t>El módulo automatiza la revisión de voluminosos informes corporativos mediante Inteligencia Artificial. Esto reduce drásticamente el trabajo manual de lectura y permite extraer información crítica en segundos a través de consultas en lenguaje natural.</a:t>
            </a:r>
          </a:p>
          <a:p>
            <a:pPr algn="just">
              <a:lnSpc>
                <a:spcPts val="2079"/>
              </a:lnSpc>
            </a:pPr>
          </a:p>
        </p:txBody>
      </p:sp>
      <p:sp>
        <p:nvSpPr>
          <p:cNvPr name="TextBox 8" id="8"/>
          <p:cNvSpPr txBox="true"/>
          <p:nvPr/>
        </p:nvSpPr>
        <p:spPr>
          <a:xfrm rot="0">
            <a:off x="1022898" y="6949732"/>
            <a:ext cx="2642253"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AUTOMATIZACIÓN</a:t>
            </a:r>
          </a:p>
        </p:txBody>
      </p:sp>
      <p:sp>
        <p:nvSpPr>
          <p:cNvPr name="TextBox 9" id="9"/>
          <p:cNvSpPr txBox="true"/>
          <p:nvPr/>
        </p:nvSpPr>
        <p:spPr>
          <a:xfrm rot="0">
            <a:off x="5226322" y="7726045"/>
            <a:ext cx="3626130" cy="1789430"/>
          </a:xfrm>
          <a:prstGeom prst="rect">
            <a:avLst/>
          </a:prstGeom>
        </p:spPr>
        <p:txBody>
          <a:bodyPr anchor="t" rtlCol="false" tIns="0" lIns="0" bIns="0" rIns="0">
            <a:spAutoFit/>
          </a:bodyPr>
          <a:lstStyle/>
          <a:p>
            <a:pPr algn="just">
              <a:lnSpc>
                <a:spcPts val="2079"/>
              </a:lnSpc>
            </a:pPr>
            <a:r>
              <a:rPr lang="en-US" sz="1599" spc="-47">
                <a:solidFill>
                  <a:srgbClr val="FFFFFF"/>
                </a:solidFill>
                <a:latin typeface="Helvetica World"/>
                <a:ea typeface="Helvetica World"/>
                <a:cs typeface="Helvetica World"/>
                <a:sym typeface="Helvetica World"/>
              </a:rPr>
              <a:t>Permite interactuar en una única plataforma con los documentos estratégicos (financieros, operacionales o legales) cargados por el usuario, evitando la revisión manual de cientos de páginas para encontrar datos específicos.</a:t>
            </a:r>
          </a:p>
          <a:p>
            <a:pPr algn="just">
              <a:lnSpc>
                <a:spcPts val="2079"/>
              </a:lnSpc>
            </a:pPr>
          </a:p>
        </p:txBody>
      </p:sp>
      <p:sp>
        <p:nvSpPr>
          <p:cNvPr name="TextBox 10" id="10"/>
          <p:cNvSpPr txBox="true"/>
          <p:nvPr/>
        </p:nvSpPr>
        <p:spPr>
          <a:xfrm rot="0">
            <a:off x="5226322" y="6949732"/>
            <a:ext cx="3324333"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VISIÓN CENTRALIZADA</a:t>
            </a:r>
          </a:p>
        </p:txBody>
      </p:sp>
      <p:sp>
        <p:nvSpPr>
          <p:cNvPr name="TextBox 11" id="11"/>
          <p:cNvSpPr txBox="true"/>
          <p:nvPr/>
        </p:nvSpPr>
        <p:spPr>
          <a:xfrm rot="0">
            <a:off x="9429746" y="7726045"/>
            <a:ext cx="3626130" cy="1789430"/>
          </a:xfrm>
          <a:prstGeom prst="rect">
            <a:avLst/>
          </a:prstGeom>
        </p:spPr>
        <p:txBody>
          <a:bodyPr anchor="t" rtlCol="false" tIns="0" lIns="0" bIns="0" rIns="0">
            <a:spAutoFit/>
          </a:bodyPr>
          <a:lstStyle/>
          <a:p>
            <a:pPr algn="just">
              <a:lnSpc>
                <a:spcPts val="2079"/>
              </a:lnSpc>
            </a:pPr>
            <a:r>
              <a:rPr lang="en-US" sz="1599" spc="-47">
                <a:solidFill>
                  <a:srgbClr val="FFFFFF"/>
                </a:solidFill>
                <a:latin typeface="Helvetica World"/>
                <a:ea typeface="Helvetica World"/>
                <a:cs typeface="Helvetica World"/>
                <a:sym typeface="Helvetica World"/>
              </a:rPr>
              <a:t>dentifica posibles observaciones o puntos críticos dentro del documento analizado, facilitando al gerente la priorización de los temas más importantes antes de las reuniones de directorio mediante la interrogación directa del texto.</a:t>
            </a:r>
          </a:p>
          <a:p>
            <a:pPr algn="just">
              <a:lnSpc>
                <a:spcPts val="2079"/>
              </a:lnSpc>
            </a:pPr>
          </a:p>
        </p:txBody>
      </p:sp>
      <p:sp>
        <p:nvSpPr>
          <p:cNvPr name="TextBox 12" id="12"/>
          <p:cNvSpPr txBox="true"/>
          <p:nvPr/>
        </p:nvSpPr>
        <p:spPr>
          <a:xfrm rot="0">
            <a:off x="9429746" y="6949732"/>
            <a:ext cx="3039414"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GESTIÓN DE RIESGOS</a:t>
            </a:r>
          </a:p>
        </p:txBody>
      </p:sp>
      <p:sp>
        <p:nvSpPr>
          <p:cNvPr name="TextBox 13" id="13"/>
          <p:cNvSpPr txBox="true"/>
          <p:nvPr/>
        </p:nvSpPr>
        <p:spPr>
          <a:xfrm rot="0">
            <a:off x="13633170" y="7726045"/>
            <a:ext cx="3626130" cy="1789430"/>
          </a:xfrm>
          <a:prstGeom prst="rect">
            <a:avLst/>
          </a:prstGeom>
        </p:spPr>
        <p:txBody>
          <a:bodyPr anchor="t" rtlCol="false" tIns="0" lIns="0" bIns="0" rIns="0">
            <a:spAutoFit/>
          </a:bodyPr>
          <a:lstStyle/>
          <a:p>
            <a:pPr algn="just">
              <a:lnSpc>
                <a:spcPts val="2079"/>
              </a:lnSpc>
            </a:pPr>
            <a:r>
              <a:rPr lang="en-US" sz="1599" spc="-47">
                <a:solidFill>
                  <a:srgbClr val="FFFFFF"/>
                </a:solidFill>
                <a:latin typeface="Helvetica World"/>
                <a:ea typeface="Helvetica World"/>
                <a:cs typeface="Helvetica World"/>
                <a:sym typeface="Helvetica World"/>
              </a:rPr>
              <a:t>Facilita la extracción de resúmenes y respuestas con evidencias claras, entregando la página exacta de origen de cada hallazgo. Esto provee una base estructurada y 100% confiable para la toma de decisiones estratégicas.</a:t>
            </a:r>
          </a:p>
          <a:p>
            <a:pPr algn="just">
              <a:lnSpc>
                <a:spcPts val="2079"/>
              </a:lnSpc>
            </a:pPr>
          </a:p>
        </p:txBody>
      </p:sp>
      <p:sp>
        <p:nvSpPr>
          <p:cNvPr name="TextBox 14" id="14"/>
          <p:cNvSpPr txBox="true"/>
          <p:nvPr/>
        </p:nvSpPr>
        <p:spPr>
          <a:xfrm rot="0">
            <a:off x="13633170" y="6949732"/>
            <a:ext cx="378920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REPORTES Y SEGUIMIENTO</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4559982" y="1028700"/>
            <a:ext cx="7349169" cy="822960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sp>
        <p:nvSpPr>
          <p:cNvPr name="Freeform 5" id="5"/>
          <p:cNvSpPr/>
          <p:nvPr/>
        </p:nvSpPr>
        <p:spPr>
          <a:xfrm flipH="false" flipV="true" rot="0">
            <a:off x="8661676" y="878594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5400000">
            <a:off x="-53308" y="4624591"/>
            <a:ext cx="5278349" cy="3989070"/>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OBJETIVO GENERAL</a:t>
            </a:r>
          </a:p>
        </p:txBody>
      </p:sp>
      <p:sp>
        <p:nvSpPr>
          <p:cNvPr name="TextBox 7" id="7"/>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8" id="8"/>
          <p:cNvSpPr txBox="true"/>
          <p:nvPr/>
        </p:nvSpPr>
        <p:spPr>
          <a:xfrm rot="0">
            <a:off x="13633170" y="1766913"/>
            <a:ext cx="3626130" cy="178943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Procesar y sintetizar la información corporativa mediante el uso de Inteligencia Artificial (arquitectura RAG) aplicada directamente a los informes extensos cargados por el usuario en la plataforma.</a:t>
            </a:r>
          </a:p>
          <a:p>
            <a:pPr algn="l">
              <a:lnSpc>
                <a:spcPts val="2079"/>
              </a:lnSpc>
            </a:pPr>
          </a:p>
          <a:p>
            <a:pPr algn="l">
              <a:lnSpc>
                <a:spcPts val="2079"/>
              </a:lnSpc>
            </a:pPr>
          </a:p>
        </p:txBody>
      </p:sp>
      <p:sp>
        <p:nvSpPr>
          <p:cNvPr name="TextBox 9" id="9"/>
          <p:cNvSpPr txBox="true"/>
          <p:nvPr/>
        </p:nvSpPr>
        <p:spPr>
          <a:xfrm rot="0">
            <a:off x="13633170" y="990600"/>
            <a:ext cx="368423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ANÁLISIS AUTOMATIZADO</a:t>
            </a:r>
          </a:p>
        </p:txBody>
      </p:sp>
      <p:sp>
        <p:nvSpPr>
          <p:cNvPr name="TextBox 10" id="10"/>
          <p:cNvSpPr txBox="true"/>
          <p:nvPr/>
        </p:nvSpPr>
        <p:spPr>
          <a:xfrm rot="0">
            <a:off x="13633170" y="4748156"/>
            <a:ext cx="3626130" cy="178943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Identificar puntos críticos y riesgos estratégicos presentes en el documento a través del motor de consultas, facilitando la preparación previa del ejecutivo para anticipar observaciones durante las reuniones de directorio.</a:t>
            </a:r>
          </a:p>
          <a:p>
            <a:pPr algn="l">
              <a:lnSpc>
                <a:spcPts val="2079"/>
              </a:lnSpc>
            </a:pPr>
          </a:p>
        </p:txBody>
      </p:sp>
      <p:sp>
        <p:nvSpPr>
          <p:cNvPr name="TextBox 11" id="11"/>
          <p:cNvSpPr txBox="true"/>
          <p:nvPr/>
        </p:nvSpPr>
        <p:spPr>
          <a:xfrm rot="0">
            <a:off x="13633170" y="3971843"/>
            <a:ext cx="3519278"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DETECCIÓN Y GESTIÓN</a:t>
            </a:r>
          </a:p>
        </p:txBody>
      </p:sp>
      <p:sp>
        <p:nvSpPr>
          <p:cNvPr name="TextBox 12" id="12"/>
          <p:cNvSpPr txBox="true"/>
          <p:nvPr/>
        </p:nvSpPr>
        <p:spPr>
          <a:xfrm rot="0">
            <a:off x="13633170" y="7726045"/>
            <a:ext cx="3626130" cy="20466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Entregar resúmenes ejecutivos y respuestas precisas que optimicen el tiempo de lectura. El sistema respalda cada decisión entregando evidencia con trazabilidad exacta (citando la página del informe original), asegurando total fiabilidad para la alta dirección.</a:t>
            </a:r>
          </a:p>
          <a:p>
            <a:pPr algn="l">
              <a:lnSpc>
                <a:spcPts val="2079"/>
              </a:lnSpc>
            </a:pPr>
          </a:p>
        </p:txBody>
      </p:sp>
      <p:sp>
        <p:nvSpPr>
          <p:cNvPr name="TextBox 13" id="13"/>
          <p:cNvSpPr txBox="true"/>
          <p:nvPr/>
        </p:nvSpPr>
        <p:spPr>
          <a:xfrm rot="0">
            <a:off x="13633170" y="6949732"/>
            <a:ext cx="3519278"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TOMA DE DECISIONES</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464817" y="2054405"/>
            <a:ext cx="2118200" cy="237196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grpSp>
        <p:nvGrpSpPr>
          <p:cNvPr name="Group 5" id="5"/>
          <p:cNvGrpSpPr/>
          <p:nvPr/>
        </p:nvGrpSpPr>
        <p:grpSpPr>
          <a:xfrm rot="0">
            <a:off x="1255001" y="4238488"/>
            <a:ext cx="2195064" cy="2458033"/>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0">
            <a:off x="13635280" y="940911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929226" y="638700"/>
            <a:ext cx="10734958" cy="1630291"/>
          </a:xfrm>
          <a:prstGeom prst="rect">
            <a:avLst/>
          </a:prstGeom>
        </p:spPr>
        <p:txBody>
          <a:bodyPr anchor="t" rtlCol="false" tIns="0" lIns="0" bIns="0" rIns="0">
            <a:spAutoFit/>
          </a:bodyPr>
          <a:lstStyle/>
          <a:p>
            <a:pPr algn="l">
              <a:lnSpc>
                <a:spcPts val="13068"/>
              </a:lnSpc>
            </a:pPr>
            <a:r>
              <a:rPr lang="en-US" sz="9900" spc="-485">
                <a:solidFill>
                  <a:srgbClr val="38B6FF"/>
                </a:solidFill>
                <a:latin typeface="Norwester"/>
                <a:ea typeface="Norwester"/>
                <a:cs typeface="Norwester"/>
                <a:sym typeface="Norwester"/>
              </a:rPr>
              <a:t>OBJETIVOS ESPECÍFICOS</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 </a:t>
            </a:r>
          </a:p>
        </p:txBody>
      </p:sp>
      <p:sp>
        <p:nvSpPr>
          <p:cNvPr name="TextBox 10" id="10"/>
          <p:cNvSpPr txBox="true"/>
          <p:nvPr/>
        </p:nvSpPr>
        <p:spPr>
          <a:xfrm rot="0">
            <a:off x="4907818" y="3724773"/>
            <a:ext cx="5543341" cy="1927225"/>
          </a:xfrm>
          <a:prstGeom prst="rect">
            <a:avLst/>
          </a:prstGeom>
        </p:spPr>
        <p:txBody>
          <a:bodyPr anchor="t" rtlCol="false" tIns="0" lIns="0" bIns="0" rIns="0">
            <a:spAutoFit/>
          </a:bodyPr>
          <a:lstStyle/>
          <a:p>
            <a:pPr algn="just">
              <a:lnSpc>
                <a:spcPts val="2599"/>
              </a:lnSpc>
            </a:pPr>
            <a:r>
              <a:rPr lang="en-US" sz="1999" spc="-59">
                <a:solidFill>
                  <a:srgbClr val="FFFFFF"/>
                </a:solidFill>
                <a:latin typeface="Helvetica World"/>
                <a:ea typeface="Helvetica World"/>
                <a:cs typeface="Helvetica World"/>
                <a:sym typeface="Helvetica World"/>
              </a:rPr>
              <a:t>Cargar informes corporativos (en formato PDF) al sistema para su fragmentación y vectorización automatizada. Esto permite que el modelo de Inteligencia Artificial "lea" y estructure matemáticamente el documento en segundos.</a:t>
            </a:r>
          </a:p>
          <a:p>
            <a:pPr algn="just">
              <a:lnSpc>
                <a:spcPts val="2599"/>
              </a:lnSpc>
            </a:pPr>
          </a:p>
        </p:txBody>
      </p:sp>
      <p:sp>
        <p:nvSpPr>
          <p:cNvPr name="TextBox 11" id="11"/>
          <p:cNvSpPr txBox="true"/>
          <p:nvPr/>
        </p:nvSpPr>
        <p:spPr>
          <a:xfrm rot="0">
            <a:off x="4907818" y="3005435"/>
            <a:ext cx="5543341" cy="701673"/>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ns Bold"/>
                <a:ea typeface="Open Sans Bold"/>
                <a:cs typeface="Open Sans Bold"/>
                <a:sym typeface="Open Sans Bold"/>
              </a:rPr>
              <a:t>Ingesta y Procesamiento de Documentos (</a:t>
            </a:r>
            <a:r>
              <a:rPr lang="en-US" b="true" sz="2000">
                <a:solidFill>
                  <a:srgbClr val="FFFFFF"/>
                </a:solidFill>
                <a:latin typeface="Open Sans Bold"/>
                <a:ea typeface="Open Sans Bold"/>
                <a:cs typeface="Open Sans Bold"/>
                <a:sym typeface="Open Sans Bold"/>
              </a:rPr>
              <a:t>Confi</a:t>
            </a:r>
            <a:r>
              <a:rPr lang="en-US" b="true" sz="2000">
                <a:solidFill>
                  <a:srgbClr val="FFFFFF"/>
                </a:solidFill>
                <a:latin typeface="Open Sans Bold"/>
                <a:ea typeface="Open Sans Bold"/>
                <a:cs typeface="Open Sans Bold"/>
                <a:sym typeface="Open Sans Bold"/>
              </a:rPr>
              <a:t>guración Inicial):</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6</a:t>
            </a:r>
          </a:p>
        </p:txBody>
      </p:sp>
      <p:sp>
        <p:nvSpPr>
          <p:cNvPr name="TextBox 13" id="13"/>
          <p:cNvSpPr txBox="true"/>
          <p:nvPr/>
        </p:nvSpPr>
        <p:spPr>
          <a:xfrm rot="0">
            <a:off x="10842642" y="3678074"/>
            <a:ext cx="6416658" cy="1927225"/>
          </a:xfrm>
          <a:prstGeom prst="rect">
            <a:avLst/>
          </a:prstGeom>
        </p:spPr>
        <p:txBody>
          <a:bodyPr anchor="t" rtlCol="false" tIns="0" lIns="0" bIns="0" rIns="0">
            <a:spAutoFit/>
          </a:bodyPr>
          <a:lstStyle/>
          <a:p>
            <a:pPr algn="just">
              <a:lnSpc>
                <a:spcPts val="2599"/>
              </a:lnSpc>
            </a:pPr>
            <a:r>
              <a:rPr lang="en-US" sz="1999" spc="-59">
                <a:solidFill>
                  <a:srgbClr val="FFFFFF"/>
                </a:solidFill>
                <a:latin typeface="Helvetica World"/>
                <a:ea typeface="Helvetica World"/>
                <a:cs typeface="Helvetica World"/>
                <a:sym typeface="Helvetica World"/>
              </a:rPr>
              <a:t>Identificar riesgos, puntos críticos y posibles objeciones dentro de los documentos a través de consultas directas a la IA (arquitectura RAG), permitiendo priorizar la preparación estratégica del ejecutivo ante el directorio.</a:t>
            </a:r>
          </a:p>
          <a:p>
            <a:pPr algn="l">
              <a:lnSpc>
                <a:spcPts val="2599"/>
              </a:lnSpc>
            </a:pPr>
          </a:p>
          <a:p>
            <a:pPr algn="l">
              <a:lnSpc>
                <a:spcPts val="2599"/>
              </a:lnSpc>
            </a:pPr>
          </a:p>
        </p:txBody>
      </p:sp>
      <p:sp>
        <p:nvSpPr>
          <p:cNvPr name="TextBox 14" id="14"/>
          <p:cNvSpPr txBox="true"/>
          <p:nvPr/>
        </p:nvSpPr>
        <p:spPr>
          <a:xfrm rot="0">
            <a:off x="10842642" y="2958736"/>
            <a:ext cx="6416658" cy="349248"/>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ns Bold"/>
                <a:ea typeface="Open Sans Bold"/>
                <a:cs typeface="Open Sans Bold"/>
                <a:sym typeface="Open Sans Bold"/>
              </a:rPr>
              <a:t>Detección e Interr</a:t>
            </a:r>
            <a:r>
              <a:rPr lang="en-US" b="true" sz="2000">
                <a:solidFill>
                  <a:srgbClr val="FFFFFF"/>
                </a:solidFill>
                <a:latin typeface="Open Sans Bold"/>
                <a:ea typeface="Open Sans Bold"/>
                <a:cs typeface="Open Sans Bold"/>
                <a:sym typeface="Open Sans Bold"/>
              </a:rPr>
              <a:t>o</a:t>
            </a:r>
            <a:r>
              <a:rPr lang="en-US" b="true" sz="2000">
                <a:solidFill>
                  <a:srgbClr val="FFFFFF"/>
                </a:solidFill>
                <a:latin typeface="Open Sans Bold"/>
                <a:ea typeface="Open Sans Bold"/>
                <a:cs typeface="Open Sans Bold"/>
                <a:sym typeface="Open Sans Bold"/>
              </a:rPr>
              <a:t>gación (Análisis de Riesgos):</a:t>
            </a:r>
          </a:p>
        </p:txBody>
      </p:sp>
      <p:sp>
        <p:nvSpPr>
          <p:cNvPr name="TextBox 15" id="15"/>
          <p:cNvSpPr txBox="true"/>
          <p:nvPr/>
        </p:nvSpPr>
        <p:spPr>
          <a:xfrm rot="0">
            <a:off x="5515174" y="6706731"/>
            <a:ext cx="10654936" cy="2251075"/>
          </a:xfrm>
          <a:prstGeom prst="rect">
            <a:avLst/>
          </a:prstGeom>
        </p:spPr>
        <p:txBody>
          <a:bodyPr anchor="t" rtlCol="false" tIns="0" lIns="0" bIns="0" rIns="0">
            <a:spAutoFit/>
          </a:bodyPr>
          <a:lstStyle/>
          <a:p>
            <a:pPr algn="just">
              <a:lnSpc>
                <a:spcPts val="2599"/>
              </a:lnSpc>
            </a:pPr>
            <a:r>
              <a:rPr lang="en-US" sz="1999" spc="-59">
                <a:solidFill>
                  <a:srgbClr val="FFFFFF"/>
                </a:solidFill>
                <a:latin typeface="Helvetica World"/>
                <a:ea typeface="Helvetica World"/>
                <a:cs typeface="Helvetica World"/>
                <a:sym typeface="Helvetica World"/>
              </a:rPr>
              <a:t>Generar respuestas y resúmenes estructurados basados exclusivamente en el contexto del documento subido. El sistema garantiza que cada hallazgo cuente con evidencia trazable (citando la página exacta del informe original) para respaldar la toma de decisiones sin riesgo de "alucinaciones" de la IA.</a:t>
            </a:r>
          </a:p>
          <a:p>
            <a:pPr algn="just">
              <a:lnSpc>
                <a:spcPts val="2599"/>
              </a:lnSpc>
            </a:pPr>
          </a:p>
          <a:p>
            <a:pPr algn="l">
              <a:lnSpc>
                <a:spcPts val="2599"/>
              </a:lnSpc>
            </a:pPr>
          </a:p>
          <a:p>
            <a:pPr algn="l">
              <a:lnSpc>
                <a:spcPts val="2599"/>
              </a:lnSpc>
            </a:pPr>
          </a:p>
        </p:txBody>
      </p:sp>
      <p:sp>
        <p:nvSpPr>
          <p:cNvPr name="TextBox 16" id="16"/>
          <p:cNvSpPr txBox="true"/>
          <p:nvPr/>
        </p:nvSpPr>
        <p:spPr>
          <a:xfrm rot="0">
            <a:off x="5515174" y="5994898"/>
            <a:ext cx="10654936" cy="339725"/>
          </a:xfrm>
          <a:prstGeom prst="rect">
            <a:avLst/>
          </a:prstGeom>
        </p:spPr>
        <p:txBody>
          <a:bodyPr anchor="t" rtlCol="false" tIns="0" lIns="0" bIns="0" rIns="0">
            <a:spAutoFit/>
          </a:bodyPr>
          <a:lstStyle/>
          <a:p>
            <a:pPr algn="ctr">
              <a:lnSpc>
                <a:spcPts val="2799"/>
              </a:lnSpc>
            </a:pPr>
            <a:r>
              <a:rPr lang="en-US" sz="1999" b="true">
                <a:solidFill>
                  <a:srgbClr val="FFFFFF"/>
                </a:solidFill>
                <a:latin typeface="Open Sans Bold"/>
                <a:ea typeface="Open Sans Bold"/>
                <a:cs typeface="Open Sans Bold"/>
                <a:sym typeface="Open Sans Bold"/>
              </a:rPr>
              <a:t>Síntesis y Tr</a:t>
            </a:r>
            <a:r>
              <a:rPr lang="en-US" b="true" sz="1999">
                <a:solidFill>
                  <a:srgbClr val="FFFFFF"/>
                </a:solidFill>
                <a:latin typeface="Open Sans Bold"/>
                <a:ea typeface="Open Sans Bold"/>
                <a:cs typeface="Open Sans Bold"/>
                <a:sym typeface="Open Sans Bold"/>
              </a:rPr>
              <a:t>azabilidad (Respaldo de Decisiones):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3247576" y="1028700"/>
            <a:ext cx="3111732" cy="3484517"/>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3880" t="0" r="-33880" b="0"/>
              </a:stretch>
            </a:blipFill>
          </p:spPr>
        </p:sp>
      </p:grpSp>
      <p:grpSp>
        <p:nvGrpSpPr>
          <p:cNvPr name="Group 5" id="5"/>
          <p:cNvGrpSpPr/>
          <p:nvPr/>
        </p:nvGrpSpPr>
        <p:grpSpPr>
          <a:xfrm rot="0">
            <a:off x="13247576" y="6514773"/>
            <a:ext cx="3111732" cy="3484517"/>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5400000">
            <a:off x="15602985" y="6697702"/>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75710" y="1974821"/>
            <a:ext cx="10805956"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USUARIOS OBJETIVO</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10" id="10"/>
          <p:cNvSpPr txBox="true"/>
          <p:nvPr/>
        </p:nvSpPr>
        <p:spPr>
          <a:xfrm rot="0">
            <a:off x="1429037" y="6444615"/>
            <a:ext cx="10958135" cy="2813685"/>
          </a:xfrm>
          <a:prstGeom prst="rect">
            <a:avLst/>
          </a:prstGeom>
        </p:spPr>
        <p:txBody>
          <a:bodyPr anchor="t" rtlCol="false" tIns="0" lIns="0" bIns="0" rIns="0">
            <a:spAutoFit/>
          </a:bodyPr>
          <a:lstStyle/>
          <a:p>
            <a:pPr algn="l">
              <a:lnSpc>
                <a:spcPts val="3119"/>
              </a:lnSpc>
            </a:pPr>
            <a:r>
              <a:rPr lang="en-US" sz="2399" spc="-71">
                <a:solidFill>
                  <a:srgbClr val="FFFFFF"/>
                </a:solidFill>
                <a:latin typeface="Helvetica World"/>
                <a:ea typeface="Helvetica World"/>
                <a:cs typeface="Helvetica World"/>
                <a:sym typeface="Helvetica World"/>
              </a:rPr>
              <a:t>Es el usuario único y central de este Producto Mínimo Viable. Utiliza la plataforma para cargar informes corporativos extensos (en formato PDF) e interactuar directamente con la Inteligencia Artificial mediante un sistema de consultas. Su objetivo es extraer resúmenes, identificar riesgos y verificar datos clave de los documentos para preparar de manera ágil y fundamentada sus presentaciones y respuestas ante la sesión de directorio.</a:t>
            </a:r>
          </a:p>
          <a:p>
            <a:pPr algn="l">
              <a:lnSpc>
                <a:spcPts val="1949"/>
              </a:lnSpc>
            </a:pPr>
          </a:p>
          <a:p>
            <a:pPr algn="l">
              <a:lnSpc>
                <a:spcPts val="1949"/>
              </a:lnSpc>
            </a:pPr>
          </a:p>
        </p:txBody>
      </p:sp>
      <p:sp>
        <p:nvSpPr>
          <p:cNvPr name="TextBox 11" id="11"/>
          <p:cNvSpPr txBox="true"/>
          <p:nvPr/>
        </p:nvSpPr>
        <p:spPr>
          <a:xfrm rot="0">
            <a:off x="2835963" y="5475647"/>
            <a:ext cx="716454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GERENTE GENERAL — LIDERAZGO ESTRATÉGICO</a:t>
            </a:r>
          </a:p>
        </p:txBody>
      </p:sp>
      <p:sp>
        <p:nvSpPr>
          <p:cNvPr name="Freeform 12" id="12"/>
          <p:cNvSpPr/>
          <p:nvPr/>
        </p:nvSpPr>
        <p:spPr>
          <a:xfrm flipH="false" flipV="true" rot="-5400000">
            <a:off x="15602985" y="4000079"/>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true" rot="-5400000">
            <a:off x="15602985" y="1183955"/>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true" rot="-5400000">
            <a:off x="15672297" y="9440987"/>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472132"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72132" y="7279005"/>
            <a:ext cx="10611011"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ALCANCE DEL MVP</a:t>
            </a:r>
          </a:p>
        </p:txBody>
      </p:sp>
      <p:sp>
        <p:nvSpPr>
          <p:cNvPr name="TextBox 5" id="5"/>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6" id="6"/>
          <p:cNvSpPr txBox="true"/>
          <p:nvPr/>
        </p:nvSpPr>
        <p:spPr>
          <a:xfrm rot="0">
            <a:off x="472132" y="3563750"/>
            <a:ext cx="3626130" cy="10179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Carga, configuración y administración de archivos corporativos (financieros, operativos y de mercado) que serán analizados.</a:t>
            </a:r>
          </a:p>
        </p:txBody>
      </p:sp>
      <p:sp>
        <p:nvSpPr>
          <p:cNvPr name="TextBox 7" id="7"/>
          <p:cNvSpPr txBox="true"/>
          <p:nvPr/>
        </p:nvSpPr>
        <p:spPr>
          <a:xfrm rot="0">
            <a:off x="472132" y="2787437"/>
            <a:ext cx="3527002"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GESTIÓN DOCUMENTAL</a:t>
            </a:r>
          </a:p>
        </p:txBody>
      </p:sp>
      <p:sp>
        <p:nvSpPr>
          <p:cNvPr name="TextBox 8" id="8"/>
          <p:cNvSpPr txBox="true"/>
          <p:nvPr/>
        </p:nvSpPr>
        <p:spPr>
          <a:xfrm rot="0">
            <a:off x="4675556" y="3563750"/>
            <a:ext cx="3626130" cy="10179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Integración de agentes inteligentes especializados para procesar documentos, redactar memorias y analizar a la competencia.</a:t>
            </a:r>
          </a:p>
        </p:txBody>
      </p:sp>
      <p:sp>
        <p:nvSpPr>
          <p:cNvPr name="TextBox 9" id="9"/>
          <p:cNvSpPr txBox="true"/>
          <p:nvPr/>
        </p:nvSpPr>
        <p:spPr>
          <a:xfrm rot="0">
            <a:off x="4675556" y="2787437"/>
            <a:ext cx="378920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ANÁLISIS DE DATOS E IA</a:t>
            </a:r>
          </a:p>
        </p:txBody>
      </p:sp>
      <p:sp>
        <p:nvSpPr>
          <p:cNvPr name="TextBox 10" id="10"/>
          <p:cNvSpPr txBox="true"/>
          <p:nvPr/>
        </p:nvSpPr>
        <p:spPr>
          <a:xfrm rot="0">
            <a:off x="8878980" y="3563750"/>
            <a:ext cx="5229223" cy="76073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Centralización de hallazgos, detección de puntos críticos y predicción de posibles preguntas u observaciones de la junta directiva.</a:t>
            </a:r>
          </a:p>
        </p:txBody>
      </p:sp>
      <p:sp>
        <p:nvSpPr>
          <p:cNvPr name="TextBox 11" id="11"/>
          <p:cNvSpPr txBox="true"/>
          <p:nvPr/>
        </p:nvSpPr>
        <p:spPr>
          <a:xfrm rot="0">
            <a:off x="8878980" y="2787437"/>
            <a:ext cx="5229223"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PREDICCIÓN Y GESTIÓN DE RIESGOS</a:t>
            </a:r>
          </a:p>
        </p:txBody>
      </p:sp>
      <p:sp>
        <p:nvSpPr>
          <p:cNvPr name="TextBox 12" id="12"/>
          <p:cNvSpPr txBox="true"/>
          <p:nvPr/>
        </p:nvSpPr>
        <p:spPr>
          <a:xfrm rot="0">
            <a:off x="14599313" y="3563750"/>
            <a:ext cx="3626130" cy="10179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Paneles ejecutivos con resúmenes, generación de memorias con evidencias, y autenticación con roles y permisos para proteger la información confidencial.</a:t>
            </a:r>
          </a:p>
        </p:txBody>
      </p:sp>
      <p:sp>
        <p:nvSpPr>
          <p:cNvPr name="TextBox 13" id="13"/>
          <p:cNvSpPr txBox="true"/>
          <p:nvPr/>
        </p:nvSpPr>
        <p:spPr>
          <a:xfrm rot="0">
            <a:off x="14517778" y="2787437"/>
            <a:ext cx="378920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REPORTES Y SEGURIDAD</a:t>
            </a:r>
          </a:p>
        </p:txBody>
      </p:sp>
      <p:sp>
        <p:nvSpPr>
          <p:cNvPr name="Freeform 14" id="14"/>
          <p:cNvSpPr/>
          <p:nvPr/>
        </p:nvSpPr>
        <p:spPr>
          <a:xfrm flipH="false" flipV="true" rot="0">
            <a:off x="10214557"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true" rot="0">
            <a:off x="6967082"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true" rot="0">
            <a:off x="3719607"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true" rot="0">
            <a:off x="16709507"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true" rot="0">
            <a:off x="13462032"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true" rot="0">
            <a:off x="-2644538"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3616496" y="2363737"/>
            <a:ext cx="4671504" cy="5231150"/>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19987" t="0" r="-19987" b="0"/>
              </a:stretch>
            </a:blipFill>
          </p:spPr>
        </p:sp>
      </p:grpSp>
      <p:sp>
        <p:nvSpPr>
          <p:cNvPr name="TextBox 5" id="5"/>
          <p:cNvSpPr txBox="true"/>
          <p:nvPr/>
        </p:nvSpPr>
        <p:spPr>
          <a:xfrm rot="0">
            <a:off x="1028700" y="2012864"/>
            <a:ext cx="11192672" cy="3249742"/>
          </a:xfrm>
          <a:prstGeom prst="rect">
            <a:avLst/>
          </a:prstGeom>
        </p:spPr>
        <p:txBody>
          <a:bodyPr anchor="t" rtlCol="false" tIns="0" lIns="0" bIns="0" rIns="0">
            <a:spAutoFit/>
          </a:bodyPr>
          <a:lstStyle/>
          <a:p>
            <a:pPr algn="l">
              <a:lnSpc>
                <a:spcPts val="12294"/>
              </a:lnSpc>
            </a:pPr>
            <a:r>
              <a:rPr lang="en-US" sz="14131" spc="-692">
                <a:solidFill>
                  <a:srgbClr val="38B6FF"/>
                </a:solidFill>
                <a:latin typeface="Norwester"/>
                <a:ea typeface="Norwester"/>
                <a:cs typeface="Norwester"/>
                <a:sym typeface="Norwester"/>
              </a:rPr>
              <a:t>METODOLOGÍA DE DESARROLLO</a:t>
            </a:r>
          </a:p>
        </p:txBody>
      </p:sp>
      <p:sp>
        <p:nvSpPr>
          <p:cNvPr name="TextBox 6" id="6"/>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9</a:t>
            </a:r>
          </a:p>
        </p:txBody>
      </p:sp>
      <p:sp>
        <p:nvSpPr>
          <p:cNvPr name="Freeform 8" id="8"/>
          <p:cNvSpPr/>
          <p:nvPr/>
        </p:nvSpPr>
        <p:spPr>
          <a:xfrm flipH="false" flipV="true" rot="0">
            <a:off x="1040973" y="9729253"/>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8301769" y="5934319"/>
            <a:ext cx="3919603" cy="10179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Implementación de funcionalidades mediante Sprints, permitiendo integrar progresivamente la lectura de documentos, agentes de IA y generación de reportes.</a:t>
            </a:r>
          </a:p>
        </p:txBody>
      </p:sp>
      <p:sp>
        <p:nvSpPr>
          <p:cNvPr name="TextBox 10" id="10"/>
          <p:cNvSpPr txBox="true"/>
          <p:nvPr/>
        </p:nvSpPr>
        <p:spPr>
          <a:xfrm rot="0">
            <a:off x="4759915" y="8497570"/>
            <a:ext cx="3919603" cy="10179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Evaluación continua de los resultados y la precisión de las respuestas, incorporando retroalimentación para ajustar y optimizar el sistema.</a:t>
            </a:r>
          </a:p>
        </p:txBody>
      </p:sp>
      <p:sp>
        <p:nvSpPr>
          <p:cNvPr name="TextBox 11" id="11"/>
          <p:cNvSpPr txBox="true"/>
          <p:nvPr/>
        </p:nvSpPr>
        <p:spPr>
          <a:xfrm rot="0">
            <a:off x="1040973" y="6090188"/>
            <a:ext cx="3919603" cy="76073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Definición de historias de usuario y priorización del Product Backlog según las necesidades del módulo del Gerente General.</a:t>
            </a:r>
          </a:p>
        </p:txBody>
      </p:sp>
      <p:sp>
        <p:nvSpPr>
          <p:cNvPr name="TextBox 12" id="12"/>
          <p:cNvSpPr txBox="true"/>
          <p:nvPr/>
        </p:nvSpPr>
        <p:spPr>
          <a:xfrm rot="0">
            <a:off x="1040973" y="5361325"/>
            <a:ext cx="3919603" cy="448308"/>
          </a:xfrm>
          <a:prstGeom prst="rect">
            <a:avLst/>
          </a:prstGeom>
        </p:spPr>
        <p:txBody>
          <a:bodyPr anchor="t" rtlCol="false" tIns="0" lIns="0" bIns="0" rIns="0">
            <a:spAutoFit/>
          </a:bodyPr>
          <a:lstStyle/>
          <a:p>
            <a:pPr algn="l">
              <a:lnSpc>
                <a:spcPts val="3640"/>
              </a:lnSpc>
            </a:pPr>
            <a:r>
              <a:rPr lang="en-US" sz="2600" b="true">
                <a:solidFill>
                  <a:srgbClr val="FFFFFF"/>
                </a:solidFill>
                <a:latin typeface="Open Sans Bold"/>
                <a:ea typeface="Open Sans Bold"/>
                <a:cs typeface="Open Sans Bold"/>
                <a:sym typeface="Open Sans Bold"/>
              </a:rPr>
              <a:t>Pla</a:t>
            </a:r>
            <a:r>
              <a:rPr lang="en-US" sz="2600" b="true">
                <a:solidFill>
                  <a:srgbClr val="FFFFFF"/>
                </a:solidFill>
                <a:latin typeface="Open Sans Bold"/>
                <a:ea typeface="Open Sans Bold"/>
                <a:cs typeface="Open Sans Bold"/>
                <a:sym typeface="Open Sans Bold"/>
              </a:rPr>
              <a:t>nific</a:t>
            </a:r>
            <a:r>
              <a:rPr lang="en-US" b="true" sz="2600">
                <a:solidFill>
                  <a:srgbClr val="FFFFFF"/>
                </a:solidFill>
                <a:latin typeface="Open Sans Bold"/>
                <a:ea typeface="Open Sans Bold"/>
                <a:cs typeface="Open Sans Bold"/>
                <a:sym typeface="Open Sans Bold"/>
              </a:rPr>
              <a:t>ación</a:t>
            </a:r>
          </a:p>
        </p:txBody>
      </p:sp>
      <p:sp>
        <p:nvSpPr>
          <p:cNvPr name="TextBox 13" id="13"/>
          <p:cNvSpPr txBox="true"/>
          <p:nvPr/>
        </p:nvSpPr>
        <p:spPr>
          <a:xfrm rot="0">
            <a:off x="8301769" y="5205456"/>
            <a:ext cx="3919603" cy="448310"/>
          </a:xfrm>
          <a:prstGeom prst="rect">
            <a:avLst/>
          </a:prstGeom>
        </p:spPr>
        <p:txBody>
          <a:bodyPr anchor="t" rtlCol="false" tIns="0" lIns="0" bIns="0" rIns="0">
            <a:spAutoFit/>
          </a:bodyPr>
          <a:lstStyle/>
          <a:p>
            <a:pPr algn="l">
              <a:lnSpc>
                <a:spcPts val="3639"/>
              </a:lnSpc>
            </a:pPr>
            <a:r>
              <a:rPr lang="en-US" sz="2599" b="true">
                <a:solidFill>
                  <a:srgbClr val="FFFFFF"/>
                </a:solidFill>
                <a:latin typeface="Open Sans Bold"/>
                <a:ea typeface="Open Sans Bold"/>
                <a:cs typeface="Open Sans Bold"/>
                <a:sym typeface="Open Sans Bold"/>
              </a:rPr>
              <a:t>D</a:t>
            </a:r>
            <a:r>
              <a:rPr lang="en-US" b="true" sz="2599">
                <a:solidFill>
                  <a:srgbClr val="FFFFFF"/>
                </a:solidFill>
                <a:latin typeface="Open Sans Bold"/>
                <a:ea typeface="Open Sans Bold"/>
                <a:cs typeface="Open Sans Bold"/>
                <a:sym typeface="Open Sans Bold"/>
              </a:rPr>
              <a:t>esarrollo incremental</a:t>
            </a:r>
          </a:p>
        </p:txBody>
      </p:sp>
      <p:sp>
        <p:nvSpPr>
          <p:cNvPr name="TextBox 14" id="14"/>
          <p:cNvSpPr txBox="true"/>
          <p:nvPr/>
        </p:nvSpPr>
        <p:spPr>
          <a:xfrm rot="0">
            <a:off x="4759915" y="7911517"/>
            <a:ext cx="3919603" cy="448310"/>
          </a:xfrm>
          <a:prstGeom prst="rect">
            <a:avLst/>
          </a:prstGeom>
        </p:spPr>
        <p:txBody>
          <a:bodyPr anchor="t" rtlCol="false" tIns="0" lIns="0" bIns="0" rIns="0">
            <a:spAutoFit/>
          </a:bodyPr>
          <a:lstStyle/>
          <a:p>
            <a:pPr algn="l">
              <a:lnSpc>
                <a:spcPts val="3639"/>
              </a:lnSpc>
            </a:pPr>
            <a:r>
              <a:rPr lang="en-US" sz="2599" b="true">
                <a:solidFill>
                  <a:srgbClr val="FFFFFF"/>
                </a:solidFill>
                <a:latin typeface="Open Sans Bold"/>
                <a:ea typeface="Open Sans Bold"/>
                <a:cs typeface="Open Sans Bold"/>
                <a:sym typeface="Open Sans Bold"/>
              </a:rPr>
              <a:t>R</a:t>
            </a:r>
            <a:r>
              <a:rPr lang="en-US" b="true" sz="2599">
                <a:solidFill>
                  <a:srgbClr val="FFFFFF"/>
                </a:solidFill>
                <a:latin typeface="Open Sans Bold"/>
                <a:ea typeface="Open Sans Bold"/>
                <a:cs typeface="Open Sans Bold"/>
                <a:sym typeface="Open Sans Bold"/>
              </a:rPr>
              <a:t>evisión y mejora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3247576" y="1028700"/>
            <a:ext cx="3111732" cy="3484517"/>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3880" t="0" r="-33880" b="0"/>
              </a:stretch>
            </a:blipFill>
          </p:spPr>
        </p:sp>
      </p:grpSp>
      <p:grpSp>
        <p:nvGrpSpPr>
          <p:cNvPr name="Group 5" id="5"/>
          <p:cNvGrpSpPr/>
          <p:nvPr/>
        </p:nvGrpSpPr>
        <p:grpSpPr>
          <a:xfrm rot="0">
            <a:off x="13946044" y="7324612"/>
            <a:ext cx="3111732" cy="3484517"/>
            <a:chOff x="0" y="0"/>
            <a:chExt cx="6350000" cy="7110730"/>
          </a:xfrm>
        </p:grpSpPr>
        <p:sp>
          <p:nvSpPr>
            <p:cNvPr name="Freeform 6" id="6"/>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4037" t="0" r="-34037" b="0"/>
              </a:stretch>
            </a:blipFill>
          </p:spPr>
        </p:sp>
      </p:grpSp>
      <p:sp>
        <p:nvSpPr>
          <p:cNvPr name="Freeform 7" id="7"/>
          <p:cNvSpPr/>
          <p:nvPr/>
        </p:nvSpPr>
        <p:spPr>
          <a:xfrm flipH="false" flipV="true" rot="-5400000">
            <a:off x="15602985" y="6697702"/>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40973" y="2479616"/>
            <a:ext cx="11930636" cy="1864612"/>
          </a:xfrm>
          <a:prstGeom prst="rect">
            <a:avLst/>
          </a:prstGeom>
        </p:spPr>
        <p:txBody>
          <a:bodyPr anchor="t" rtlCol="false" tIns="0" lIns="0" bIns="0" rIns="0">
            <a:spAutoFit/>
          </a:bodyPr>
          <a:lstStyle/>
          <a:p>
            <a:pPr algn="l">
              <a:lnSpc>
                <a:spcPts val="15048"/>
              </a:lnSpc>
            </a:pPr>
            <a:r>
              <a:rPr lang="en-US" sz="11400" spc="-558">
                <a:solidFill>
                  <a:srgbClr val="38B6FF"/>
                </a:solidFill>
                <a:latin typeface="Norwester"/>
                <a:ea typeface="Norwester"/>
                <a:cs typeface="Norwester"/>
                <a:sym typeface="Norwester"/>
              </a:rPr>
              <a:t>RECURSOS NECESARIOS</a:t>
            </a:r>
          </a:p>
        </p:txBody>
      </p:sp>
      <p:sp>
        <p:nvSpPr>
          <p:cNvPr name="TextBox 9" id="9"/>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10" id="10"/>
          <p:cNvSpPr txBox="true"/>
          <p:nvPr/>
        </p:nvSpPr>
        <p:spPr>
          <a:xfrm rot="0">
            <a:off x="1028700" y="6440170"/>
            <a:ext cx="3919603" cy="12750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Product Owner, Scrum Master, desarrolladores Frontend, Backend y especialista en Inteligencia Artificial, responsables del diseño, gestión y desarrollo del módulo.</a:t>
            </a:r>
          </a:p>
        </p:txBody>
      </p:sp>
      <p:sp>
        <p:nvSpPr>
          <p:cNvPr name="TextBox 11" id="11"/>
          <p:cNvSpPr txBox="true"/>
          <p:nvPr/>
        </p:nvSpPr>
        <p:spPr>
          <a:xfrm rot="0">
            <a:off x="1040973" y="5639830"/>
            <a:ext cx="399914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 EQUIPO DE TRABAJO</a:t>
            </a:r>
          </a:p>
        </p:txBody>
      </p:sp>
      <p:sp>
        <p:nvSpPr>
          <p:cNvPr name="TextBox 12" id="12"/>
          <p:cNvSpPr txBox="true"/>
          <p:nvPr/>
        </p:nvSpPr>
        <p:spPr>
          <a:xfrm rot="0">
            <a:off x="5892114" y="6440170"/>
            <a:ext cx="3919603" cy="20466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Python y FastAPI para el desarrollo del servidor (Backend), HTML, CSS y JavaScript puro para la interfaz de usuario (Frontend), Supabase (PostgreSQL) para la base de datos relacional y vectorial, y Git para el control de versiones del proyecto.</a:t>
            </a:r>
          </a:p>
          <a:p>
            <a:pPr algn="l">
              <a:lnSpc>
                <a:spcPts val="2079"/>
              </a:lnSpc>
            </a:pPr>
          </a:p>
          <a:p>
            <a:pPr algn="l">
              <a:lnSpc>
                <a:spcPts val="2079"/>
              </a:lnSpc>
            </a:pPr>
          </a:p>
        </p:txBody>
      </p:sp>
      <p:sp>
        <p:nvSpPr>
          <p:cNvPr name="TextBox 13" id="13"/>
          <p:cNvSpPr txBox="true"/>
          <p:nvPr/>
        </p:nvSpPr>
        <p:spPr>
          <a:xfrm rot="0">
            <a:off x="5904386" y="5639830"/>
            <a:ext cx="4014137"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RECURSOS TECNOLÓGICOS</a:t>
            </a:r>
          </a:p>
        </p:txBody>
      </p:sp>
      <p:sp>
        <p:nvSpPr>
          <p:cNvPr name="TextBox 14" id="14"/>
          <p:cNvSpPr txBox="true"/>
          <p:nvPr/>
        </p:nvSpPr>
        <p:spPr>
          <a:xfrm rot="0">
            <a:off x="10754692" y="6440170"/>
            <a:ext cx="4398069" cy="204660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Integración de modelos de lenguaje (LLMs) a través de las APIs gratuitas de NVIDIA (ej. DeepSeek), orquestación de agentes mediante LangChain, y uso de bases de datos vectoriales en la nube con Supabase (extensión pgvector) para el análisis avanzado de documentos corporativos.</a:t>
            </a:r>
          </a:p>
          <a:p>
            <a:pPr algn="l">
              <a:lnSpc>
                <a:spcPts val="2079"/>
              </a:lnSpc>
            </a:pPr>
          </a:p>
          <a:p>
            <a:pPr algn="l">
              <a:lnSpc>
                <a:spcPts val="2079"/>
              </a:lnSpc>
            </a:pPr>
          </a:p>
        </p:txBody>
      </p:sp>
      <p:sp>
        <p:nvSpPr>
          <p:cNvPr name="TextBox 15" id="15"/>
          <p:cNvSpPr txBox="true"/>
          <p:nvPr/>
        </p:nvSpPr>
        <p:spPr>
          <a:xfrm rot="0">
            <a:off x="10767800" y="5639830"/>
            <a:ext cx="5858612"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HERRAMIENTAS DE IA Y DATOS</a:t>
            </a:r>
          </a:p>
        </p:txBody>
      </p:sp>
      <p:sp>
        <p:nvSpPr>
          <p:cNvPr name="Freeform 16" id="16"/>
          <p:cNvSpPr/>
          <p:nvPr/>
        </p:nvSpPr>
        <p:spPr>
          <a:xfrm flipH="false" flipV="true" rot="-5400000">
            <a:off x="15602985" y="4000079"/>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true" rot="-5400000">
            <a:off x="15602985" y="1183955"/>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true" rot="-5400000">
            <a:off x="15672297" y="9440987"/>
            <a:ext cx="2770958" cy="403049"/>
          </a:xfrm>
          <a:custGeom>
            <a:avLst/>
            <a:gdLst/>
            <a:ahLst/>
            <a:cxnLst/>
            <a:rect r="r" b="b" t="t" l="l"/>
            <a:pathLst>
              <a:path h="403049" w="2770958">
                <a:moveTo>
                  <a:pt x="0" y="403048"/>
                </a:moveTo>
                <a:lnTo>
                  <a:pt x="2770958" y="403048"/>
                </a:lnTo>
                <a:lnTo>
                  <a:pt x="2770958" y="0"/>
                </a:lnTo>
                <a:lnTo>
                  <a:pt x="0" y="0"/>
                </a:lnTo>
                <a:lnTo>
                  <a:pt x="0" y="40304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830574"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72132" y="7279005"/>
            <a:ext cx="15994480"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FACTIBILIDAD DEL PROYECTO</a:t>
            </a:r>
          </a:p>
        </p:txBody>
      </p:sp>
      <p:sp>
        <p:nvSpPr>
          <p:cNvPr name="TextBox 5" id="5"/>
          <p:cNvSpPr txBox="true"/>
          <p:nvPr/>
        </p:nvSpPr>
        <p:spPr>
          <a:xfrm rot="0">
            <a:off x="1040973"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6" id="6"/>
          <p:cNvSpPr txBox="true"/>
          <p:nvPr/>
        </p:nvSpPr>
        <p:spPr>
          <a:xfrm rot="0">
            <a:off x="1022898" y="3548891"/>
            <a:ext cx="3626130" cy="1532255"/>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Se utilizan tecnologías modernas y librerías maduras (Python, FastAPI, LangChain, JavaScript puro, y APIs de IA de NVIDIA) con amplia documentación técnica disponible para su integración eficiente.</a:t>
            </a:r>
          </a:p>
          <a:p>
            <a:pPr algn="l">
              <a:lnSpc>
                <a:spcPts val="2079"/>
              </a:lnSpc>
            </a:pPr>
          </a:p>
        </p:txBody>
      </p:sp>
      <p:sp>
        <p:nvSpPr>
          <p:cNvPr name="TextBox 7" id="7"/>
          <p:cNvSpPr txBox="true"/>
          <p:nvPr/>
        </p:nvSpPr>
        <p:spPr>
          <a:xfrm rot="0">
            <a:off x="1022898" y="2772578"/>
            <a:ext cx="3527002"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RECURSOS DISPONIBLES</a:t>
            </a:r>
          </a:p>
        </p:txBody>
      </p:sp>
      <p:sp>
        <p:nvSpPr>
          <p:cNvPr name="TextBox 8" id="8"/>
          <p:cNvSpPr txBox="true"/>
          <p:nvPr/>
        </p:nvSpPr>
        <p:spPr>
          <a:xfrm rot="0">
            <a:off x="6685100" y="3408410"/>
            <a:ext cx="3626130" cy="2303780"/>
          </a:xfrm>
          <a:prstGeom prst="rect">
            <a:avLst/>
          </a:prstGeom>
        </p:spPr>
        <p:txBody>
          <a:bodyPr anchor="t" rtlCol="false" tIns="0" lIns="0" bIns="0" rIns="0">
            <a:spAutoFit/>
          </a:bodyPr>
          <a:lstStyle/>
          <a:p>
            <a:pPr algn="l">
              <a:lnSpc>
                <a:spcPts val="2079"/>
              </a:lnSpc>
            </a:pPr>
            <a:r>
              <a:rPr lang="en-US" sz="1599" spc="-47">
                <a:solidFill>
                  <a:srgbClr val="FFFFFF"/>
                </a:solidFill>
                <a:latin typeface="Helvetica World"/>
                <a:ea typeface="Helvetica World"/>
                <a:cs typeface="Helvetica World"/>
                <a:sym typeface="Helvetica World"/>
              </a:rPr>
              <a:t>El proyecto se enfoca en el desarrollo de un MVP centrado exclusivamente en el Módulo del Gerente General, priorizando funciones clave como la ingesta de informes corporativos (PDFs), la consulta de información a través de un sistema de preguntas y respuestas (arquitectura RAG), y la detección de riesgos internos utilizando Inteligencia Artificial.</a:t>
            </a:r>
          </a:p>
        </p:txBody>
      </p:sp>
      <p:sp>
        <p:nvSpPr>
          <p:cNvPr name="TextBox 9" id="9"/>
          <p:cNvSpPr txBox="true"/>
          <p:nvPr/>
        </p:nvSpPr>
        <p:spPr>
          <a:xfrm rot="0">
            <a:off x="6685100" y="2632097"/>
            <a:ext cx="3789201"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ALCANCE CONTROLADO</a:t>
            </a:r>
          </a:p>
        </p:txBody>
      </p:sp>
      <p:sp>
        <p:nvSpPr>
          <p:cNvPr name="TextBox 10" id="10"/>
          <p:cNvSpPr txBox="true"/>
          <p:nvPr/>
        </p:nvSpPr>
        <p:spPr>
          <a:xfrm rot="0">
            <a:off x="12510372" y="3548891"/>
            <a:ext cx="3626130" cy="2303780"/>
          </a:xfrm>
          <a:prstGeom prst="rect">
            <a:avLst/>
          </a:prstGeom>
        </p:spPr>
        <p:txBody>
          <a:bodyPr anchor="t" rtlCol="false" tIns="0" lIns="0" bIns="0" rIns="0">
            <a:spAutoFit/>
          </a:bodyPr>
          <a:lstStyle/>
          <a:p>
            <a:pPr algn="just">
              <a:lnSpc>
                <a:spcPts val="2079"/>
              </a:lnSpc>
            </a:pPr>
            <a:r>
              <a:rPr lang="en-US" sz="1599" spc="-47">
                <a:solidFill>
                  <a:srgbClr val="FFFFFF"/>
                </a:solidFill>
                <a:latin typeface="Helvetica World"/>
                <a:ea typeface="Helvetica World"/>
                <a:cs typeface="Helvetica World"/>
                <a:sym typeface="Helvetica World"/>
              </a:rPr>
              <a:t>La metodología Scrum permite distribuir el trabajo en Sprints, validando de forma progresiva la precisión de la Inteligencia Artificial al analizar los informes corporativos (arquitectura RAG). Esto facilita ajustar el desarrollo, optimizar la lectura de los PDFs y afinar las instrucciones (prompts) según los resultados obtenidos en cada iteración.</a:t>
            </a:r>
          </a:p>
        </p:txBody>
      </p:sp>
      <p:sp>
        <p:nvSpPr>
          <p:cNvPr name="TextBox 11" id="11"/>
          <p:cNvSpPr txBox="true"/>
          <p:nvPr/>
        </p:nvSpPr>
        <p:spPr>
          <a:xfrm rot="0">
            <a:off x="12510372" y="2772578"/>
            <a:ext cx="4748928" cy="522732"/>
          </a:xfrm>
          <a:prstGeom prst="rect">
            <a:avLst/>
          </a:prstGeom>
        </p:spPr>
        <p:txBody>
          <a:bodyPr anchor="t" rtlCol="false" tIns="0" lIns="0" bIns="0" rIns="0">
            <a:spAutoFit/>
          </a:bodyPr>
          <a:lstStyle/>
          <a:p>
            <a:pPr algn="just">
              <a:lnSpc>
                <a:spcPts val="4224"/>
              </a:lnSpc>
            </a:pPr>
            <a:r>
              <a:rPr lang="en-US" sz="3200" spc="-156">
                <a:solidFill>
                  <a:srgbClr val="38B6FF"/>
                </a:solidFill>
                <a:latin typeface="Norwester"/>
                <a:ea typeface="Norwester"/>
                <a:cs typeface="Norwester"/>
                <a:sym typeface="Norwester"/>
              </a:rPr>
              <a:t>DESARROLLO INCREMENTAL</a:t>
            </a:r>
          </a:p>
        </p:txBody>
      </p:sp>
      <p:sp>
        <p:nvSpPr>
          <p:cNvPr name="Freeform 12" id="12"/>
          <p:cNvSpPr/>
          <p:nvPr/>
        </p:nvSpPr>
        <p:spPr>
          <a:xfrm flipH="false" flipV="true" rot="0">
            <a:off x="6764099"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true" rot="0">
            <a:off x="12699700" y="589610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1885417" y="1755898"/>
            <a:ext cx="4243198" cy="4751533"/>
            <a:chOff x="0" y="0"/>
            <a:chExt cx="6350000" cy="7110730"/>
          </a:xfrm>
        </p:grpSpPr>
        <p:sp>
          <p:nvSpPr>
            <p:cNvPr name="Freeform 4" id="4"/>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34037" t="0" r="-34037" b="0"/>
              </a:stretch>
            </a:blipFill>
          </p:spPr>
        </p:sp>
      </p:grpSp>
      <p:sp>
        <p:nvSpPr>
          <p:cNvPr name="Freeform 5" id="5"/>
          <p:cNvSpPr/>
          <p:nvPr/>
        </p:nvSpPr>
        <p:spPr>
          <a:xfrm flipH="false" flipV="true" rot="-5400000">
            <a:off x="9092049" y="7398382"/>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98794" y="1479611"/>
            <a:ext cx="8842865" cy="3989070"/>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DIFERENCIADOR DEL PROYECTO</a:t>
            </a:r>
          </a:p>
        </p:txBody>
      </p:sp>
      <p:sp>
        <p:nvSpPr>
          <p:cNvPr name="TextBox 7" id="7"/>
          <p:cNvSpPr txBox="true"/>
          <p:nvPr/>
        </p:nvSpPr>
        <p:spPr>
          <a:xfrm rot="0">
            <a:off x="698794" y="990600"/>
            <a:ext cx="1794990" cy="384298"/>
          </a:xfrm>
          <a:prstGeom prst="rect">
            <a:avLst/>
          </a:prstGeom>
        </p:spPr>
        <p:txBody>
          <a:bodyPr anchor="t" rtlCol="false" tIns="0" lIns="0" bIns="0" rIns="0">
            <a:spAutoFit/>
          </a:bodyPr>
          <a:lstStyle/>
          <a:p>
            <a:pPr algn="l">
              <a:lnSpc>
                <a:spcPts val="3014"/>
              </a:lnSpc>
            </a:pPr>
            <a:r>
              <a:rPr lang="en-US" sz="2283" spc="-111">
                <a:solidFill>
                  <a:srgbClr val="FFFFFF"/>
                </a:solidFill>
                <a:latin typeface="Norwester"/>
                <a:ea typeface="Norwester"/>
                <a:cs typeface="Norwester"/>
                <a:sym typeface="Norwester"/>
              </a:rPr>
              <a:t>DIRECTA V2</a:t>
            </a:r>
          </a:p>
        </p:txBody>
      </p:sp>
      <p:sp>
        <p:nvSpPr>
          <p:cNvPr name="TextBox 8" id="8"/>
          <p:cNvSpPr txBox="true"/>
          <p:nvPr/>
        </p:nvSpPr>
        <p:spPr>
          <a:xfrm rot="0">
            <a:off x="703291" y="5991775"/>
            <a:ext cx="8842865" cy="2735580"/>
          </a:xfrm>
          <a:prstGeom prst="rect">
            <a:avLst/>
          </a:prstGeom>
        </p:spPr>
        <p:txBody>
          <a:bodyPr anchor="t" rtlCol="false" tIns="0" lIns="0" bIns="0" rIns="0">
            <a:spAutoFit/>
          </a:bodyPr>
          <a:lstStyle/>
          <a:p>
            <a:pPr algn="l">
              <a:lnSpc>
                <a:spcPts val="2729"/>
              </a:lnSpc>
            </a:pPr>
            <a:r>
              <a:rPr lang="en-US" sz="2099" spc="-62">
                <a:solidFill>
                  <a:srgbClr val="FFFFFF"/>
                </a:solidFill>
                <a:latin typeface="Helvetica World"/>
                <a:ea typeface="Helvetica World"/>
                <a:cs typeface="Helvetica World"/>
                <a:sym typeface="Helvetica World"/>
              </a:rPr>
              <a:t>A diferencia de revisar manualmente cientos de páginas de informes corporativos, el módulo del Gerente General en Directa procesa la información estratégica utilizando Inteligencia Artificial (arquitectura RAG). Esto permite pasar de un análisis fragmentado a una preparación ágil y precisa para el directorio, garantizando que cada respuesta esté respaldada por evidencia clara (trazabilidad exacta de la página del documento original), lo que facilita la anticipación de preguntas complejas y la detección de riesgos clave ante la mesa directiva.</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5921917" y="8100856"/>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0800000">
            <a:off x="1028700" y="808153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16996033" y="1028700"/>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10800000">
            <a:off x="1028700" y="1028700"/>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5963" y="3447612"/>
            <a:ext cx="12616074" cy="3163176"/>
          </a:xfrm>
          <a:prstGeom prst="rect">
            <a:avLst/>
          </a:prstGeom>
        </p:spPr>
        <p:txBody>
          <a:bodyPr anchor="t" rtlCol="false" tIns="0" lIns="0" bIns="0" rIns="0">
            <a:spAutoFit/>
          </a:bodyPr>
          <a:lstStyle/>
          <a:p>
            <a:pPr algn="ctr">
              <a:lnSpc>
                <a:spcPts val="25590"/>
              </a:lnSpc>
            </a:pPr>
            <a:r>
              <a:rPr lang="en-US" sz="19386" spc="-949">
                <a:solidFill>
                  <a:srgbClr val="38B6FF"/>
                </a:solidFill>
                <a:latin typeface="Norwester"/>
                <a:ea typeface="Norwester"/>
                <a:cs typeface="Norwester"/>
                <a:sym typeface="Norwester"/>
              </a:rPr>
              <a:t>GRACIAS</a:t>
            </a:r>
          </a:p>
        </p:txBody>
      </p:sp>
      <p:sp>
        <p:nvSpPr>
          <p:cNvPr name="TextBox 10" id="10"/>
          <p:cNvSpPr txBox="true"/>
          <p:nvPr/>
        </p:nvSpPr>
        <p:spPr>
          <a:xfrm rot="0">
            <a:off x="8246505" y="1415805"/>
            <a:ext cx="1794990" cy="383769"/>
          </a:xfrm>
          <a:prstGeom prst="rect">
            <a:avLst/>
          </a:prstGeom>
        </p:spPr>
        <p:txBody>
          <a:bodyPr anchor="t" rtlCol="false" tIns="0" lIns="0" bIns="0" rIns="0">
            <a:spAutoFit/>
          </a:bodyPr>
          <a:lstStyle/>
          <a:p>
            <a:pPr algn="ctr">
              <a:lnSpc>
                <a:spcPts val="3014"/>
              </a:lnSpc>
            </a:pPr>
            <a:r>
              <a:rPr lang="en-US" sz="2283" spc="-111">
                <a:solidFill>
                  <a:srgbClr val="FFFFFF"/>
                </a:solidFill>
                <a:latin typeface="Norwester"/>
                <a:ea typeface="Norwester"/>
                <a:cs typeface="Norwester"/>
                <a:sym typeface="Norwester"/>
              </a:rPr>
              <a:t>DIRECTA V2</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DAHWCnmzkzs</dc:identifier>
  <dcterms:modified xsi:type="dcterms:W3CDTF">2011-08-01T06:04:30Z</dcterms:modified>
  <cp:revision>1</cp:revision>
  <dc:title>Directa v2</dc:title>
</cp:coreProperties>
</file>